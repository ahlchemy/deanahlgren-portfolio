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hyperlink" Target="file:///home/oai/redirect.html#:~:text=What%20are%20HTTP%20Status%20Codes%3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hyperlink" Target="file:///home/oai/redirect.html#:~:text=What%20are%20HTTP%20Status%20Codes%3F" TargetMode="External"/><Relationship Id="rId7" Type="http://schemas.openxmlformats.org/officeDocument/2006/relationships/hyperlink" Target="https://beeceptor.com/docs/concepts/http-headers/#:~:text=HTTP%20headers%20are%20key,sent%20by%20the%20server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hyperlink" Target="file:///home/oai/redirect.html#:~:text=What%20are%20HTTP%20Status%20Codes%3F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hyperlink" Target="file:///home/oai/redirect.html#:~:text=Before%20we%20dive%20into%20the,each%20with%20its%20own%20purpose" TargetMode="External"/><Relationship Id="rId5" Type="http://schemas.openxmlformats.org/officeDocument/2006/relationships/hyperlink" Target="file:///home/oai/redirect.html#:~:text=200%20OK%20Standard%20response%20for,the%20result%20of%20the%20action" TargetMode="External"/><Relationship Id="rId6" Type="http://schemas.openxmlformats.org/officeDocument/2006/relationships/hyperlink" Target="file:///home/oai/redirect.html#:~:text=404%20Not%20Found%20The%20requested,by%20the%20client%20are%20permissible" TargetMode="External"/><Relationship Id="rId7" Type="http://schemas.openxmlformats.org/officeDocument/2006/relationships/hyperlink" Target="file:///home/oai/redirect.html#:~:text=500%20Internal%20Server%20Error%20A,more%20specific%20message%20is%20suitable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hyperlink" Target="https://beeceptor.com/docs/concepts/http-headers/#:~:text=HTTP%20headers%20are%20key,sent%20by%20the%20server" TargetMode="External"/><Relationship Id="rId6" Type="http://schemas.openxmlformats.org/officeDocument/2006/relationships/hyperlink" Target="https://beeceptor.com/docs/concepts/http-headers/#:~:text=To%20understand%20their%20significance%2C%20let%27s,the%20format%20of%20the%20data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beeceptor.com/docs/concepts/http-headers/#:~:text=,payload%20sent%20to%20the%20serv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hyperlink" Target="https://beeceptor.com/docs/concepts/http-headers/#:~:text=All%20the%20popular%20web,into%20HTTP%20headers%20using%20Firefox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hyperlink" Target="file:///home/oai/redirect.html#:~:text=What%20are%20HTTP%20Status%20Codes%3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beeceptor.com/docs/concepts/http-headers/#:~:text=All%20the%20popular%20web,into%20HTTP%20headers%20using%20Firefox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file:///home/oai/redirect.html#:~:text=What%20are%20HTTP%20Status%20Codes%3F" TargetMode="External"/><Relationship Id="rId2" Type="http://schemas.openxmlformats.org/officeDocument/2006/relationships/hyperlink" Target="https://beeceptor.com/docs/concepts/http-headers/#:~:text=HTTP%20headers%20are%20key,sent%20by%20the%20serve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0B3CE"/>
                </a:solidFill>
              </a:rPr>
              <a:t>Module 1.1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5F5F5"/>
                </a:solidFill>
              </a:rPr>
              <a:t>The Internet &amp; HTTP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Understanding the client–server model, status codes &amp; headers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914400" cy="9144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371600"/>
            <a:ext cx="731520" cy="7315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914400"/>
            <a:ext cx="914400" cy="9144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1828800"/>
            <a:ext cx="914400" cy="9144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5"/>
              </a:rPr>
              <a:t>[1]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457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</a:rPr>
              <a:t>Learning Objectives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640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5F5F5"/>
                </a:solidFill>
              </a:rPr>
              <a:t>Explain the client–server model and HTTP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371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5F5F5"/>
                </a:solidFill>
              </a:rPr>
              <a:t>Interpret common status codes (200, 404, 500)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0312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2103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5F5F5"/>
                </a:solidFill>
              </a:rPr>
              <a:t>Identify and read request &amp; response headers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83464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28346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5F5F5"/>
                </a:solidFill>
              </a:rPr>
              <a:t>Use developer tools to inspect network requests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566160"/>
            <a:ext cx="320040" cy="32004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2960" y="3566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5F5F5"/>
                </a:solidFill>
              </a:rPr>
              <a:t>Apply the restaurant analogy to HTTP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6"/>
              </a:rPr>
              <a:t>[2]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7"/>
              </a:rPr>
              <a:t>[3]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Client–Server Communication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Client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20240"/>
            <a:ext cx="731520" cy="731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32320" y="26974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Server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1920240" y="2103120"/>
            <a:ext cx="4572000" cy="182880"/>
          </a:xfrm>
          <a:prstGeom prst="rightArrow">
            <a:avLst/>
          </a:prstGeom>
          <a:solidFill>
            <a:srgbClr val="4691FF"/>
          </a:solidFill>
          <a:ln w="12700">
            <a:solidFill>
              <a:srgbClr val="4691FF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320040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Request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920240" y="2468880"/>
            <a:ext cx="4572000" cy="182880"/>
          </a:xfrm>
          <a:prstGeom prst="leftArrow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3200400" y="2423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Response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3657600"/>
            <a:ext cx="868680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r>
              <a:rPr lang="en-US" sz="1400" dirty="0">
                <a:solidFill>
                  <a:srgbClr val="F5F5F5"/>
                </a:solidFill>
              </a:rPr>
              <a:t>• Clients send requests containing method, path, headers &amp; body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Servers process the request and send back a response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Each response includes a status code &amp; headers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3"/>
              </a:rPr>
              <a:t>[4]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HTTP Status Codes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Status codes are standardized three‑digit numbers that indicate the outcome of a request
</a:t>
            </a:r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• 1xx Informational – request received, continue processing
</a:t>
            </a:r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• 2xx Success – request accepted and processed
</a:t>
            </a:r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• 3xx Redirection – further action needed to complete request
</a:t>
            </a:r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• 4xx Client Error – the client’s request is malformed or cannot be fulfilled
</a:t>
            </a:r>
            <a:pPr indent="0" marL="0">
              <a:buNone/>
            </a:pPr>
            <a:r>
              <a:rPr lang="en-US" sz="1400" dirty="0">
                <a:solidFill>
                  <a:srgbClr val="A0B3CE"/>
                </a:solidFill>
              </a:rPr>
              <a:t>• 5xx Server Error – the server failed to fulfil a valid request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0" y="7315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91FF"/>
                </a:solidFill>
              </a:rPr>
              <a:t>200 OK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The request was successful; the response body contains the resource or result.
</a:t>
            </a:r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404 Not Found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The requested resource could not be found but may be available later.
</a:t>
            </a:r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500 Internal Server Error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A generic server error occurred and no more specific message is available.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731520"/>
            <a:ext cx="274320" cy="2743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27432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15468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4"/>
              </a:rPr>
              <a:t>[5]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5"/>
              </a:rPr>
              <a:t>[6]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6"/>
              </a:rPr>
              <a:t>[7]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7"/>
              </a:rPr>
              <a:t>[8]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HTTP Headers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4297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Definition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Headers are key‑value pairs sent with every HTTP request or response, providing metadata such as format, length and authentication.
</a:t>
            </a:r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Types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Request headers: information about the client’s capabilities and preferences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Response headers: details about the server and how to handle the content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754880" y="5486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Common Headers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Content‑Type: Specifies the media type of the body (e.g. application/json, text/html)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User‑Agent: Identifies the client software making the request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Accept: Informs the server which response formats the client can process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Authorization: Carries credentials (e.g. Bearer token) for authentication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685800"/>
            <a:ext cx="228600" cy="228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228600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228600" cy="2286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743200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5"/>
              </a:rPr>
              <a:t>[9]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6"/>
              </a:rPr>
              <a:t>[10]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HTTP Message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731520"/>
            <a:ext cx="3200400" cy="548640"/>
          </a:xfrm>
          <a:prstGeom prst="roundRect">
            <a:avLst>
              <a:gd name="adj" fmla="val 8333"/>
            </a:avLst>
          </a:prstGeom>
          <a:solidFill>
            <a:srgbClr val="4691FF"/>
          </a:solidFill>
          <a:ln w="12700">
            <a:solidFill>
              <a:srgbClr val="4691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85800" y="868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Request line (method, path, version)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00400" cy="548640"/>
          </a:xfrm>
          <a:prstGeom prst="roundRect">
            <a:avLst>
              <a:gd name="adj" fmla="val 8333"/>
            </a:avLst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Headers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00400" cy="548640"/>
          </a:xfrm>
          <a:prstGeom prst="roundRect">
            <a:avLst>
              <a:gd name="adj" fmla="val 8333"/>
            </a:avLst>
          </a:prstGeom>
          <a:solidFill>
            <a:srgbClr val="4691FF"/>
          </a:solidFill>
          <a:ln w="12700">
            <a:solidFill>
              <a:srgbClr val="4691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240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Body (optional)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234440"/>
            <a:ext cx="182880" cy="365760"/>
          </a:xfrm>
          <a:prstGeom prst="downArrow">
            <a:avLst/>
          </a:prstGeom>
          <a:solidFill>
            <a:srgbClr val="A0B3CE"/>
          </a:solidFill>
          <a:ln w="12700">
            <a:solidFill>
              <a:srgbClr val="A0B3C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48840" y="1920240"/>
            <a:ext cx="182880" cy="365760"/>
          </a:xfrm>
          <a:prstGeom prst="downArrow">
            <a:avLst/>
          </a:prstGeom>
          <a:solidFill>
            <a:srgbClr val="A0B3CE"/>
          </a:solidFill>
          <a:ln w="12700">
            <a:solidFill>
              <a:srgbClr val="A0B3C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0" y="100584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The request envelope contains: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• Request line: includes the HTTP method (GET, POST, etc.), the resource path, and the protocol version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• Headers: key‑value pairs such as Host, User‑Agent, Accept, and Authorization
</a:t>
            </a:r>
            <a:pPr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• Body: present when sending data (e.g. a JSON payload for a POST request)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1"/>
              </a:rPr>
              <a:t>[11]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Inspecting HTTP Traffic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Step 1: Navigate to a webpage you wish to inspect
</a:t>
            </a:r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Step 2: Open Developer Tools (Ctrl+Shift+I or right‑click → Inspect)
</a:t>
            </a:r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Step 3: Select the Network tab and refresh the page
</a:t>
            </a:r>
            <a:pPr indent="0" marL="0">
              <a:buNone/>
            </a:pPr>
            <a:r>
              <a:rPr lang="en-US" sz="1400" b="1" dirty="0">
                <a:solidFill>
                  <a:srgbClr val="F5F5F5"/>
                </a:solidFill>
              </a:rPr>
              <a:t>Step 4: Click a request to view its method, status code, headers &amp; payload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274320" cy="2743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274320" cy="27432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423160"/>
            <a:ext cx="274320" cy="27432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46120"/>
            <a:ext cx="274320" cy="27432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029200" y="1371600"/>
            <a:ext cx="3931920" cy="2286000"/>
          </a:xfrm>
          <a:prstGeom prst="roundRect">
            <a:avLst>
              <a:gd name="adj" fmla="val 2000"/>
            </a:avLst>
          </a:prstGeom>
          <a:solidFill>
            <a:srgbClr val="4691FF"/>
          </a:solidFill>
          <a:ln w="12700">
            <a:solidFill>
              <a:srgbClr val="4691FF"/>
            </a:solidFill>
            <a:prstDash val="solid"/>
          </a:ln>
        </p:spPr>
        <p:txBody>
          <a:bodyPr/>
          <a:p/>
        </p:txBody>
      </p:sp>
      <p:sp>
        <p:nvSpPr>
          <p:cNvPr id="9" name="Text 3"/>
          <p:cNvSpPr/>
          <p:nvPr/>
        </p:nvSpPr>
        <p:spPr>
          <a:xfrm>
            <a:off x="5074920" y="1417320"/>
            <a:ext cx="3840480" cy="2194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In Developer Tools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• Status: e.g. 200, 404, 500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• Method: GET, POST, PUT, DELETE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• Headers: View request &amp; response details
</a:t>
            </a:r>
            <a:pPr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• Preview/Response: Inspect returned data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5"/>
              </a:rPr>
              <a:t>[12]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HTTP &amp; the Restaurant Analogy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(Customer)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097280"/>
            <a:ext cx="548640" cy="5486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Server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(Kitchen)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48640" cy="5486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4360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B3CE"/>
                </a:solidFill>
              </a:rPr>
              <a:t>(Meal)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3017520" y="1325880"/>
            <a:ext cx="640080" cy="182880"/>
          </a:xfrm>
          <a:prstGeom prst="rightArrow">
            <a:avLst/>
          </a:prstGeom>
          <a:solidFill>
            <a:srgbClr val="4691FF"/>
          </a:solidFill>
          <a:ln w="12700">
            <a:solidFill>
              <a:srgbClr val="4691FF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5760720" y="1325880"/>
            <a:ext cx="640080" cy="182880"/>
          </a:xfrm>
          <a:prstGeom prst="rightArrow">
            <a:avLst/>
          </a:prstGeom>
          <a:solidFill>
            <a:srgbClr val="5A4FCF"/>
          </a:solidFill>
          <a:ln w="12700">
            <a:solidFill>
              <a:srgbClr val="5A4FCF"/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457200" y="219456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691FF"/>
                </a:solidFill>
              </a:rPr>
              <a:t>Request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You order a meal by telling the server what you want. This is like an HTTP request, including your preferences (headers) and the dish (path).
</a:t>
            </a:r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Processing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The kitchen prepares your dish, checking ingredients and recipe (processing and data retrieval).
</a:t>
            </a:r>
            <a:pPr indent="0" marL="0">
              <a:buNone/>
            </a:pPr>
            <a:r>
              <a:rPr lang="en-US" sz="1600" b="1" dirty="0">
                <a:solidFill>
                  <a:srgbClr val="4691FF"/>
                </a:solidFill>
              </a:rPr>
              <a:t>Response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Your meal arrives. A status code tells you if the order succeeded (200), the dish is unavailable (404), or the kitchen had a problem (500).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4"/>
              </a:rPr>
              <a:t>[13]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Hands‑On Exercise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1. Navigate to a website you visit frequently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2. Open Developer Tools and record a 200 response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3. Request a missing page (e.g. https://example.com/this‑page‑does‑not‑exist) and observe the 404 code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4. Inspect the headers: identify Content‑Type and User‑Agent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5. Discuss: How does the restaurant analogy help you remember how HTTP works?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1"/>
              </a:rPr>
              <a:t>[14]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5F5"/>
                </a:solidFill>
              </a:rPr>
              <a:t>Summary &amp;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4FCF"/>
                </a:solidFill>
              </a:rPr>
              <a:t>Key Takeaways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The web relies on clients and servers exchanging HTTP requests and responses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Status codes summarise the outcome of a request (success, error, etc.)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Headers describe how to handle the request or response and carry metadata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Developer tools let you observe network traffic in real time
</a:t>
            </a:r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• Analogies (like the restaurant metaphor) make abstract protocols relatable
</a:t>
            </a:r>
            <a:pPr indent="0" marL="0">
              <a:buNone/>
            </a:pPr>
            <a:r>
              <a:rPr lang="en-US" sz="1400" i="1" dirty="0">
                <a:solidFill>
                  <a:srgbClr val="A0B3CE"/>
                </a:solidFill>
              </a:rPr>
              <a:t>Next: Dive into HTML, CSS &amp; JavaScript to build the pages that run on top of HTTP!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1"/>
              </a:rPr>
              <a:t>[15]</a:t>
            </a:r>
            <a:pPr algn="l" indent="0" marL="0">
              <a:buNone/>
            </a:pPr>
            <a:r>
              <a:rPr lang="en-US" sz="800" u="sng" dirty="0">
                <a:solidFill>
                  <a:srgbClr val="4691FF"/>
                </a:solidFill>
                <a:hlinkClick r:id="rId2"/>
              </a:rPr>
              <a:t>[16]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2025-09-25T22:39:55Z</dcterms:created>
  <dcterms:modified xsi:type="dcterms:W3CDTF">2025-09-25T22:39:55Z</dcterms:modified>
</cp:coreProperties>
</file>