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redirect.html#:~:text=The%20basic%20structure%20of%20an,and%20apply%20meaning%20to%20it" TargetMode="External"/><Relationship Id="rId2" Type="http://schemas.openxmlformats.org/officeDocument/2006/relationships/hyperlink" Target="file:///home/oai/redirect.html#:~:text=Tags%20can%20also%20have%20attributes%2C,across%20tags%20with%20attributes%20later" TargetMode="External"/><Relationship Id="rId3" Type="http://schemas.openxmlformats.org/officeDocument/2006/relationships/hyperlink" Target="https://www.w3schools.com/html/html_attributes.asp#:~:text=HTML%20Attributes" TargetMode="External"/><Relationship Id="rId4" Type="http://schemas.openxmlformats.org/officeDocument/2006/relationships/hyperlink" Target="file:///home/oai/redirect.html#:~:text=Tags%20tend%20not%20to%20do,title%3E%60%E2%80%9D%20are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hyperlink" Target="https://developer.mozilla.org/en-US/docs/Learn_web_development/Core/Accessibility/HTML#:~:text=%E2%80%94%20you%27ll%20keep%20seeing%20a,purpose%20as%20much%20as%20possibl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redirect.html#:~:text=The%20basic%20structure%20of%20an,and%20apply%20meaning%20to%20i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A18"/>
                </a:solidFill>
              </a:rPr>
              <a:t>HTML — The Structure
</a:t>
            </a:r>
            <a:pPr algn="l" indent="0" marL="0">
              <a:buNone/>
            </a:pPr>
            <a:r>
              <a:rPr lang="en-US" sz="1200" dirty="0">
                <a:solidFill>
                  <a:srgbClr val="97B1DF"/>
                </a:solidFill>
              </a:rPr>
              <a:t>Module 1.2: Building Blocks of the Web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3931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B1DF"/>
                </a:solidFill>
              </a:rPr>
              <a:t>Web Foundations</a:t>
            </a:r>
            <a:endParaRPr lang="en-US" sz="1600" dirty="0"/>
          </a:p>
        </p:txBody>
      </p:sp>
      <p:pic>
        <p:nvPicPr>
          <p:cNvPr id="4" name="Image 0" descr="/home/oai/share/679805d2-28a1-4b0b-bfa7-a95e0d78b42b.png">    </p:cNvPr>
          <p:cNvPicPr>
            <a:picLocks noChangeAspect="1"/>
          </p:cNvPicPr>
          <p:nvPr/>
        </p:nvPicPr>
        <p:blipFill>
          <a:blip r:embed="rId1"/>
          <a:srcRect l="5000" r="5000" t="0" b="0"/>
          <a:stretch/>
        </p:blipFill>
        <p:spPr>
          <a:xfrm>
            <a:off x="5760720" y="731520"/>
            <a:ext cx="32918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Building Blocks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621280" cy="3200400"/>
          </a:xfrm>
          <a:prstGeom prst="roundRect">
            <a:avLst>
              <a:gd name="adj" fmla="val 2791"/>
            </a:avLst>
          </a:prstGeom>
          <a:solidFill>
            <a:srgbClr val="F2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28016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1737360"/>
            <a:ext cx="2346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Surround content and apply meaning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&amp; end tags (e.g., p … /p)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Self‑closing tags (e.g., br)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78480" y="1097280"/>
            <a:ext cx="2621280" cy="3200400"/>
          </a:xfrm>
          <a:prstGeom prst="roundRect">
            <a:avLst>
              <a:gd name="adj" fmla="val 2791"/>
            </a:avLst>
          </a:prstGeom>
          <a:solidFill>
            <a:srgbClr val="F2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169920" y="128016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15640" y="1737360"/>
            <a:ext cx="2346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Comprise opening tag, content &amp; closing tag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elements create structure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h1, div, 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82640" y="1097280"/>
            <a:ext cx="2621280" cy="3200400"/>
          </a:xfrm>
          <a:prstGeom prst="roundRect">
            <a:avLst>
              <a:gd name="adj" fmla="val 2791"/>
            </a:avLst>
          </a:prstGeom>
          <a:solidFill>
            <a:srgbClr val="F2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74080" y="128016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19800" y="1737360"/>
            <a:ext cx="2346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extra info as name=value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Specified in the start tag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href, src, class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1"/>
              </a:rPr>
              <a:t>[1]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2"/>
              </a:rPr>
              <a:t>[2]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[3]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4"/>
              </a:rPr>
              <a:t>[4]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HTML &amp; Accessibility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030A18"/>
                </a:solidFill>
              </a:rPr>
              <a:t>• Use semantic elements (header, nav, main)
</a:t>
            </a:r>
            <a:pPr algn="l"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• Improves accessibility for screen readers
</a:t>
            </a:r>
            <a:pPr algn="l"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• Boosts SEO and code maintainability
</a:t>
            </a:r>
            <a:pPr algn="l"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• POSH (Plain Old Semantic HTML) isn’t harder to write</a:t>
            </a:r>
            <a:endParaRPr lang="en-US" sz="1200" dirty="0"/>
          </a:p>
        </p:txBody>
      </p:sp>
      <p:pic>
        <p:nvPicPr>
          <p:cNvPr id="4" name="Image 0" descr="/home/oai/share/b7ae1c16-4d60-4779-ae53-57c8d178e71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280160"/>
            <a:ext cx="32004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4663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7B1DF"/>
                </a:solidFill>
              </a:rPr>
              <a:t>HTML is the framing of a house – rooms &amp; walls without decoration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2"/>
              </a:rPr>
              <a:t>[5]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Page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128016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• Start with a header for your name
</a:t>
            </a:r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• Use nav for links to sections
</a:t>
            </a:r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• Structure content with main, section &amp; footer
</a:t>
            </a:r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• Practise nested lists (ul &gt; li)
</a:t>
            </a:r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• Include images (img) and hyperlinks (a)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120640" y="146304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DDEBF7"/>
          </a:solidFill>
          <a:ln w="12700">
            <a:solidFill>
              <a:srgbClr val="A6C1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header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20640" y="1965960"/>
            <a:ext cx="731520" cy="1371600"/>
          </a:xfrm>
          <a:prstGeom prst="roundRect">
            <a:avLst>
              <a:gd name="adj" fmla="val 6250"/>
            </a:avLst>
          </a:prstGeom>
          <a:solidFill>
            <a:srgbClr val="EAF1FA"/>
          </a:solidFill>
          <a:ln w="12700">
            <a:solidFill>
              <a:srgbClr val="A6C1E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120640" y="1965960"/>
            <a:ext cx="731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nav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7880" y="1965960"/>
            <a:ext cx="23774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A6C1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897880" y="1965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main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3474720"/>
            <a:ext cx="3657600" cy="365760"/>
          </a:xfrm>
          <a:prstGeom prst="roundRect">
            <a:avLst>
              <a:gd name="adj" fmla="val 12500"/>
            </a:avLst>
          </a:prstGeom>
          <a:solidFill>
            <a:srgbClr val="DDEBF7"/>
          </a:solidFill>
          <a:ln w="12700">
            <a:solidFill>
              <a:srgbClr val="A6C1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2064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footer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1"/>
              </a:rPr>
              <a:t>[6]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2025-09-26T02:09:31Z</dcterms:created>
  <dcterms:modified xsi:type="dcterms:W3CDTF">2025-09-26T02:09:31Z</dcterms:modified>
</cp:coreProperties>
</file>